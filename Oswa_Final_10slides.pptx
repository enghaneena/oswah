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2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63" r:id="rId13"/>
    <p:sldId id="266" r:id="rId16"/>
    <p:sldId id="282" r:id="rId32"/>
    <p:sldId id="279" r:id="rId29"/>
    <p:sldId id="275" r:id="rId25"/>
    <p:sldId id="283" r:id="rId33"/>
    <p:sldId id="276" r:id="rId26"/>
    <p:sldId id="273" r:id="rId23"/>
    <p:sldId id="274" r:id="rId24"/>
    <p:sldId id="286" r:id="rId36"/>
  </p:sldIdLst>
  <p:sldSz cy="10287000" cx="18288000"/>
  <p:notesSz cx="6858000" cy="9144000"/>
  <p:embeddedFontLst>
    <p:embeddedFont>
      <p:font typeface="Urbanist"/>
      <p:regular r:id="rId37"/>
      <p:bold r:id="rId38"/>
      <p:italic r:id="rId39"/>
      <p:boldItalic r:id="rId40"/>
    </p:embeddedFont>
    <p:embeddedFont>
      <p:font typeface="Cairo Medium"/>
      <p:regular r:id="rId41"/>
      <p:bold r:id="rId42"/>
    </p:embeddedFont>
    <p:embeddedFont>
      <p:font typeface="Cairo SemiBold"/>
      <p:regular r:id="rId43"/>
      <p:bold r:id="rId44"/>
    </p:embeddedFont>
    <p:embeddedFont>
      <p:font typeface="Cairo"/>
      <p:regular r:id="rId45"/>
      <p:bold r:id="rId46"/>
    </p:embeddedFont>
    <p:embeddedFont>
      <p:font typeface="Cairo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8.xml"/><Relationship Id="rId16" Type="http://schemas.openxmlformats.org/officeDocument/2006/relationships/slide" Target="slides/slide11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9" Type="http://schemas.openxmlformats.org/officeDocument/2006/relationships/slide" Target="slides/slide25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6" Type="http://schemas.openxmlformats.org/officeDocument/2006/relationships/slide" Target="slides/slide32.xml"/><Relationship Id="rId37" Type="http://schemas.openxmlformats.org/officeDocument/2006/relationships/font" Target="fonts/Urbanist-regular.fntdata"/><Relationship Id="rId38" Type="http://schemas.openxmlformats.org/officeDocument/2006/relationships/font" Target="fonts/Urbanist-bold.fntdata"/><Relationship Id="rId39" Type="http://schemas.openxmlformats.org/officeDocument/2006/relationships/font" Target="fonts/Urbanist-italic.fntdata"/><Relationship Id="rId40" Type="http://schemas.openxmlformats.org/officeDocument/2006/relationships/font" Target="fonts/Urbanist-boldItalic.fntdata"/><Relationship Id="rId41" Type="http://schemas.openxmlformats.org/officeDocument/2006/relationships/font" Target="fonts/ReadexProMedium-regular.fntdata"/><Relationship Id="rId42" Type="http://schemas.openxmlformats.org/officeDocument/2006/relationships/font" Target="fonts/ReadexProMedium-bold.fntdata"/><Relationship Id="rId43" Type="http://schemas.openxmlformats.org/officeDocument/2006/relationships/font" Target="fonts/ReadexProSemiBold-regular.fntdata"/><Relationship Id="rId44" Type="http://schemas.openxmlformats.org/officeDocument/2006/relationships/font" Target="fonts/ReadexProSemiBold-bold.fntdata"/><Relationship Id="rId45" Type="http://schemas.openxmlformats.org/officeDocument/2006/relationships/font" Target="fonts/ReadexPro-regular.fntdata"/><Relationship Id="rId46" Type="http://schemas.openxmlformats.org/officeDocument/2006/relationships/font" Target="fonts/ReadexPro-bold.fntdata"/><Relationship Id="rId47" Type="http://schemas.openxmlformats.org/officeDocument/2006/relationships/font" Target="fonts/ReadexProLight-regular.fntdata"/><Relationship Id="rId48" Type="http://schemas.openxmlformats.org/officeDocument/2006/relationships/font" Target="fonts/ReadexProLight-bold.fntdata"/><Relationship Id="rId4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82" name="Google Shape;4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34" name="Google Shape;5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648" name="Google Shape;64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684" name="Google Shape;68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707" name="Google Shape;70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726" name="Google Shape;72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15" name="Google Shape;8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5" name="Google Shape;85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56" name="Google Shape;85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1" name="Google Shape;911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912" name="Google Shape;912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غلاف المشروع">
  <p:cSld name="غلاف المشروع">
    <p:bg>
      <p:bgPr>
        <a:solidFill>
          <a:srgbClr val="1218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/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3" type="body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ت العرض">
  <p:cSld name="محتويات العرض">
    <p:bg>
      <p:bgPr>
        <a:solidFill>
          <a:srgbClr val="12183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/>
          <p:nvPr>
            <p:ph idx="2" type="body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3" type="body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4" type="body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5" type="body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6" type="body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7" type="body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3" name="Google Shape;33;p35"/>
          <p:cNvSpPr txBox="1"/>
          <p:nvPr>
            <p:ph idx="8" type="body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9" type="body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3" type="body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4" type="body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5" type="body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6" type="body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7" type="body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0" name="Google Shape;40;p35"/>
          <p:cNvSpPr txBox="1"/>
          <p:nvPr>
            <p:ph idx="18" type="body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9" type="body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2" name="Google Shape;42;p35"/>
          <p:cNvSpPr txBox="1"/>
          <p:nvPr>
            <p:ph idx="20" type="body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3" name="Google Shape;43;p35"/>
          <p:cNvSpPr txBox="1"/>
          <p:nvPr>
            <p:ph idx="21" type="body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22" type="body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صل قسم">
  <p:cSld name="فاصل قسم">
    <p:bg>
      <p:bgPr>
        <a:solidFill>
          <a:srgbClr val="1218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">
  <p:cSld name="أربع نقاط">
    <p:bg>
      <p:bgPr>
        <a:solidFill>
          <a:srgbClr val="12183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55" name="Google Shape;55;p3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56" name="Google Shape;56;p3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6" name="Google Shape;66;p37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رئيسي">
  <p:cSld name="نص رئيسي">
    <p:bg>
      <p:bgPr>
        <a:solidFill>
          <a:srgbClr val="1218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3" type="body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4" type="body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عريضة">
  <p:cSld name="نص وصورة عريضة">
    <p:bg>
      <p:bgPr>
        <a:solidFill>
          <a:srgbClr val="12183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/>
          <p:nvPr>
            <p:ph idx="2" type="pic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9"/>
          <p:cNvSpPr txBox="1"/>
          <p:nvPr>
            <p:ph idx="3" type="body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4" type="body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5" type="body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6" type="body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مربعة">
  <p:cSld name="نص وصورة مربعة">
    <p:bg>
      <p:bgPr>
        <a:solidFill>
          <a:srgbClr val="12183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/>
          <p:nvPr>
            <p:ph idx="2" type="pic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0"/>
          <p:cNvSpPr txBox="1"/>
          <p:nvPr>
            <p:ph idx="3" type="body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98" name="Google Shape;98;p40"/>
          <p:cNvSpPr txBox="1"/>
          <p:nvPr>
            <p:ph idx="4" type="body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5" type="body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ؤشرات">
  <p:cSld name="مؤشرات">
    <p:bg>
      <p:bgPr>
        <a:solidFill>
          <a:srgbClr val="12183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09" name="Google Shape;109;p41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13" name="Google Shape;113;p41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14" name="Google Shape;114;p41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19" name="Google Shape;119;p41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20" name="Google Shape;120;p41"/>
          <p:cNvSpPr txBox="1"/>
          <p:nvPr>
            <p:ph idx="18" type="body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رسالة رئيسية">
  <p:cSld name="رسالة رئيسية">
    <p:bg>
      <p:bgPr>
        <a:solidFill>
          <a:srgbClr val="F2F4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داكن">
  <p:cSld name="جدول داكن">
    <p:bg>
      <p:bgPr>
        <a:solidFill>
          <a:srgbClr val="1218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34" name="Google Shape;134;p4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38" name="Google Shape;138;p43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ط زمني">
  <p:cSld name="خط زمني">
    <p:bg>
      <p:bgPr>
        <a:solidFill>
          <a:srgbClr val="12183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49" name="Google Shape;149;p4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/>
          <p:nvPr>
            <p:ph idx="3" type="body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4" type="body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5" type="body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55" name="Google Shape;155;p44"/>
          <p:cNvSpPr txBox="1"/>
          <p:nvPr>
            <p:ph idx="6" type="body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7" type="body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8" type="body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9" type="body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59" name="Google Shape;159;p44"/>
          <p:cNvSpPr txBox="1"/>
          <p:nvPr>
            <p:ph idx="13" type="body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4" type="body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5" type="body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6" type="body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7" type="body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8" type="body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9" type="body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20" type="body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21" type="body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22" type="body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23" type="body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24" type="body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71" name="Google Shape;171;p44"/>
          <p:cNvSpPr txBox="1"/>
          <p:nvPr>
            <p:ph idx="25" type="body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ريق العمل">
  <p:cSld name="فريق العمل">
    <p:bg>
      <p:bgPr>
        <a:solidFill>
          <a:srgbClr val="12183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5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82" name="Google Shape;182;p45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83" name="Google Shape;183;p45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5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86" name="Google Shape;186;p45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5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89" name="Google Shape;189;p45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5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 فاتحة">
  <p:cSld name="أربع نقاط فاتحة">
    <p:bg>
      <p:bgPr>
        <a:solidFill>
          <a:srgbClr val="F2F4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04" name="Google Shape;204;p46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05" name="Google Shape;205;p46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06" name="Google Shape;206;p46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07" name="Google Shape;207;p46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فاتح">
  <p:cSld name="جدول فاتح">
    <p:bg>
      <p:bgPr>
        <a:solidFill>
          <a:srgbClr val="F2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17" name="Google Shape;217;p47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بالأعمدة">
  <p:cSld name="مقارنة بالأعمدة">
    <p:bg>
      <p:bgPr>
        <a:solidFill>
          <a:srgbClr val="1218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23" name="Google Shape;223;p48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/>
          <p:nvPr>
            <p:ph idx="3" type="body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27" name="Google Shape;227;p48"/>
          <p:cNvSpPr/>
          <p:nvPr>
            <p:ph idx="4" type="chart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توزيع نسبي">
  <p:cSld name="توزيع نسبي">
    <p:bg>
      <p:bgPr>
        <a:solidFill>
          <a:srgbClr val="1218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>
            <p:ph idx="3" type="body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37" name="Google Shape;237;p49"/>
          <p:cNvSpPr/>
          <p:nvPr>
            <p:ph idx="4" type="chart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آلية العمل">
  <p:cSld name="آلية العمل">
    <p:bg>
      <p:bgPr>
        <a:solidFill>
          <a:srgbClr val="1218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43" name="Google Shape;243;p50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/>
          <p:nvPr>
            <p:ph idx="3" type="body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47" name="Google Shape;247;p50"/>
          <p:cNvSpPr txBox="1"/>
          <p:nvPr>
            <p:ph idx="4" type="body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48" name="Google Shape;248;p50"/>
          <p:cNvSpPr txBox="1"/>
          <p:nvPr>
            <p:ph idx="5" type="body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6" type="body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كبيرة">
  <p:cSld name="صورة كبيرة">
    <p:bg>
      <p:bgPr>
        <a:solidFill>
          <a:srgbClr val="1218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/>
          <p:nvPr>
            <p:ph idx="2" type="pic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51"/>
          <p:cNvSpPr txBox="1"/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1" type="body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عرض الصور">
  <p:cSld name="معرض الصور">
    <p:bg>
      <p:bgPr>
        <a:solidFill>
          <a:srgbClr val="1218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/>
          <p:nvPr>
            <p:ph idx="2" type="pic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2"/>
          <p:cNvSpPr txBox="1"/>
          <p:nvPr>
            <p:ph idx="3" type="body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66" name="Google Shape;266;p52"/>
          <p:cNvSpPr/>
          <p:nvPr>
            <p:ph idx="4" type="pic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2"/>
          <p:cNvSpPr txBox="1"/>
          <p:nvPr>
            <p:ph idx="5" type="body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68" name="Google Shape;268;p52"/>
          <p:cNvSpPr/>
          <p:nvPr>
            <p:ph idx="6" type="pic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2"/>
          <p:cNvSpPr txBox="1"/>
          <p:nvPr>
            <p:ph idx="7" type="body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يقونات الهوية">
  <p:cSld name="أيقونات الهوية">
    <p:bg>
      <p:bgPr>
        <a:solidFill>
          <a:srgbClr val="1218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75" name="Google Shape;275;p5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/>
          <p:nvPr>
            <p:ph idx="3" type="body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79" name="Google Shape;279;p53"/>
          <p:cNvSpPr txBox="1"/>
          <p:nvPr>
            <p:ph idx="4" type="body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idx="5" type="body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81" name="Google Shape;281;p53"/>
          <p:cNvSpPr txBox="1"/>
          <p:nvPr>
            <p:ph idx="6" type="body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82" name="Google Shape;282;p53"/>
          <p:cNvSpPr txBox="1"/>
          <p:nvPr>
            <p:ph idx="7" type="body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83" name="Google Shape;283;p53"/>
          <p:cNvSpPr txBox="1"/>
          <p:nvPr>
            <p:ph idx="8" type="body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9" type="body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13" type="body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خيارين">
  <p:cSld name="مقارنة خيارين">
    <p:bg>
      <p:bgPr>
        <a:solidFill>
          <a:srgbClr val="1218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/>
          <p:nvPr>
            <p:ph idx="3" type="body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95" name="Google Shape;295;p54"/>
          <p:cNvSpPr txBox="1"/>
          <p:nvPr>
            <p:ph idx="4" type="body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96" name="Google Shape;296;p54"/>
          <p:cNvSpPr txBox="1"/>
          <p:nvPr>
            <p:ph idx="5" type="body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97" name="Google Shape;297;p54"/>
          <p:cNvSpPr txBox="1"/>
          <p:nvPr>
            <p:ph idx="6" type="body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98" name="Google Shape;298;p54"/>
          <p:cNvSpPr txBox="1"/>
          <p:nvPr>
            <p:ph idx="7" type="body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99" name="Google Shape;299;p54"/>
          <p:cNvSpPr txBox="1"/>
          <p:nvPr>
            <p:ph idx="8" type="body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داكنة">
  <p:cSld name="فارغة داكنة">
    <p:bg>
      <p:bgPr>
        <a:solidFill>
          <a:srgbClr val="12183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فاتحة">
  <p:cSld name="فارغة فاتحة">
    <p:bg>
      <p:bgPr>
        <a:solidFill>
          <a:srgbClr val="F2F4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تام العرض">
  <p:cSld name="ختام العرض">
    <p:bg>
      <p:bgPr>
        <a:solidFill>
          <a:srgbClr val="12183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b="16000" l="4300" r="69700" t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/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16" name="Google Shape;316;p57"/>
          <p:cNvSpPr txBox="1"/>
          <p:nvPr>
            <p:ph idx="1" type="body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17" name="Google Shape;317;p57"/>
          <p:cNvSpPr txBox="1"/>
          <p:nvPr>
            <p:ph idx="2" type="body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8" title="الصورة الرئيسية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75" y="1103475"/>
            <a:ext cx="9312476" cy="8603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/>
          <p:nvPr>
            <p:ph type="title"/>
          </p:nvPr>
        </p:nvSpPr>
        <p:spPr>
          <a:xfrm>
            <a:off x="7791450" y="3524250"/>
            <a:ext cx="9048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b="1" lang="ar-SA" sz="645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أُسوة</a:t>
            </a:r>
            <a:endParaRPr/>
          </a:p>
        </p:txBody>
      </p:sp>
      <p:sp>
        <p:nvSpPr>
          <p:cNvPr id="487" name="Google Shape;487;p8"/>
          <p:cNvSpPr txBox="1"/>
          <p:nvPr>
            <p:ph idx="1" type="body"/>
          </p:nvPr>
        </p:nvSpPr>
        <p:spPr>
          <a:xfrm>
            <a:off x="7791450" y="5334000"/>
            <a:ext cx="90489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b="0" lang="ar-SA" sz="33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مِشكاةُ النبوة برؤيةٍ تقنية</a:t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1143000" y="8843963"/>
            <a:ext cx="16002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4472130" y="9120188"/>
            <a:ext cx="2358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Cairo"/>
              <a:buNone/>
            </a:pPr>
            <a:r>
              <a:rPr lang="ar-SA" sz="19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فريق أُسوة</a:t>
            </a:r>
            <a:endParaRPr i="0" sz="195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397000" y="9120188"/>
            <a:ext cx="2765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Cairo"/>
              <a:buNone/>
            </a:pPr>
            <a:r>
              <a:rPr lang="ar-SA" sz="19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2026</a:t>
            </a:r>
            <a:endParaRPr i="0" sz="195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0" y="691134"/>
            <a:ext cx="6572252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وضوح المشكلة</a:t>
            </a:r>
            <a:endParaRPr/>
          </a:p>
        </p:txBody>
      </p:sp>
      <p:sp>
        <p:nvSpPr>
          <p:cNvPr id="538" name="Google Shape;538;p1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فجوة بين السيرة والحياة اليومية</a:t>
            </a:r>
            <a:endParaRPr/>
          </a:p>
        </p:txBody>
      </p:sp>
      <p:sp>
        <p:nvSpPr>
          <p:cNvPr id="539" name="Google Shape;539;p1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تُقرأ السيرة كسرد تاريخي بينما يبحث الناس عن حلول لمشكلاتهم الآن</a:t>
            </a:r>
            <a:endParaRPr/>
          </a:p>
        </p:txBody>
      </p:sp>
      <p:sp>
        <p:nvSpPr>
          <p:cNvPr id="540" name="Google Shape;540;p1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‹#›</a:t>
            </a:fld>
            <a:endParaRPr/>
          </a:p>
        </p:txBody>
      </p:sp>
      <p:sp>
        <p:nvSpPr>
          <p:cNvPr id="541" name="Google Shape;541;p11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قراءة سردية</a:t>
            </a:r>
            <a:endParaRPr/>
          </a:p>
        </p:txBody>
      </p:sp>
      <p:sp>
        <p:nvSpPr>
          <p:cNvPr id="542" name="Google Shape;542;p11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تُعرض السيرة غالباً كأحداث دون ربطها بمواقف الحياة.</a:t>
            </a:r>
            <a:endParaRPr/>
          </a:p>
        </p:txBody>
      </p:sp>
      <p:sp>
        <p:nvSpPr>
          <p:cNvPr id="543" name="Google Shape;543;p11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تحديات معاصرة</a:t>
            </a:r>
            <a:endParaRPr/>
          </a:p>
        </p:txBody>
      </p:sp>
      <p:sp>
        <p:nvSpPr>
          <p:cNvPr id="544" name="Google Shape;544;p11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خلاف الفريق، وضغط القرار، والقلق، والطموح: أسئلة يومية لا يجد الناس إجابتها في السيرة.</a:t>
            </a:r>
            <a:endParaRPr/>
          </a:p>
        </p:txBody>
      </p:sp>
      <p:sp>
        <p:nvSpPr>
          <p:cNvPr id="545" name="Google Shape;545;p11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جمهور واسع</a:t>
            </a:r>
            <a:endParaRPr/>
          </a:p>
        </p:txBody>
      </p:sp>
      <p:sp>
        <p:nvSpPr>
          <p:cNvPr id="546" name="Google Shape;546;p11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طلاب وشباب وأسر يبحثون عن توجيه عملي بلغة قريبة منهم.</a:t>
            </a:r>
            <a:endParaRPr/>
          </a:p>
        </p:txBody>
      </p:sp>
      <p:sp>
        <p:nvSpPr>
          <p:cNvPr id="547" name="Google Shape;547;p11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خطر عدم التوثيق</a:t>
            </a:r>
            <a:endParaRPr/>
          </a:p>
        </p:txBody>
      </p:sp>
      <p:sp>
        <p:nvSpPr>
          <p:cNvPr id="548" name="Google Shape;548;p11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الأدوات العامة قد تنسب للسيرة ما لم يثبت، ولا تعرض مصدره.</a:t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‹#›</a:t>
            </a:fld>
            <a:endParaRPr/>
          </a:p>
        </p:txBody>
      </p:sp>
      <p:sp>
        <p:nvSpPr>
          <p:cNvPr id="652" name="Google Shape;652;p1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قابلية التنفيذ</a:t>
            </a:r>
            <a:endParaRPr/>
          </a:p>
        </p:txBody>
      </p:sp>
      <p:sp>
        <p:nvSpPr>
          <p:cNvPr id="653" name="Google Shape;653;p1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خطة التنفيذ</a:t>
            </a:r>
            <a:endParaRPr/>
          </a:p>
        </p:txBody>
      </p:sp>
      <p:sp>
        <p:nvSpPr>
          <p:cNvPr id="654" name="Google Shape;654;p1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من الأساس إلى الميزات المتقدمة</a:t>
            </a:r>
            <a:endParaRPr/>
          </a:p>
        </p:txBody>
      </p:sp>
      <p:sp>
        <p:nvSpPr>
          <p:cNvPr id="655" name="Google Shape;655;p18"/>
          <p:cNvSpPr txBox="1"/>
          <p:nvPr>
            <p:ph idx="3" type="body"/>
          </p:nvPr>
        </p:nvSpPr>
        <p:spPr>
          <a:xfrm>
            <a:off x="13982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01</a:t>
            </a:r>
            <a:endParaRPr/>
          </a:p>
        </p:txBody>
      </p:sp>
      <p:sp>
        <p:nvSpPr>
          <p:cNvPr id="656" name="Google Shape;656;p18"/>
          <p:cNvSpPr txBox="1"/>
          <p:nvPr>
            <p:ph idx="4" type="body"/>
          </p:nvPr>
        </p:nvSpPr>
        <p:spPr>
          <a:xfrm>
            <a:off x="13982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بناء القاعدة</a:t>
            </a:r>
            <a:endParaRPr/>
          </a:p>
        </p:txBody>
      </p:sp>
      <p:sp>
        <p:nvSpPr>
          <p:cNvPr id="657" name="Google Shape;657;p18"/>
          <p:cNvSpPr txBox="1"/>
          <p:nvPr>
            <p:ph idx="5" type="body"/>
          </p:nvPr>
        </p:nvSpPr>
        <p:spPr>
          <a:xfrm>
            <a:off x="13982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أساسي</a:t>
            </a:r>
            <a:endParaRPr/>
          </a:p>
        </p:txBody>
      </p:sp>
      <p:sp>
        <p:nvSpPr>
          <p:cNvPr id="658" name="Google Shape;658;p18"/>
          <p:cNvSpPr txBox="1"/>
          <p:nvPr>
            <p:ph idx="6" type="body"/>
          </p:nvPr>
        </p:nvSpPr>
        <p:spPr>
          <a:xfrm>
            <a:off x="13982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تجهيز المصادر وتقسيمها إلى مقاطع</a:t>
            </a:r>
            <a:endParaRPr/>
          </a:p>
        </p:txBody>
      </p:sp>
      <p:sp>
        <p:nvSpPr>
          <p:cNvPr id="659" name="Google Shape;659;p18"/>
          <p:cNvSpPr txBox="1"/>
          <p:nvPr>
            <p:ph idx="7" type="body"/>
          </p:nvPr>
        </p:nvSpPr>
        <p:spPr>
          <a:xfrm>
            <a:off x="108394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02</a:t>
            </a:r>
            <a:endParaRPr/>
          </a:p>
        </p:txBody>
      </p:sp>
      <p:sp>
        <p:nvSpPr>
          <p:cNvPr id="660" name="Google Shape;660;p18"/>
          <p:cNvSpPr txBox="1"/>
          <p:nvPr>
            <p:ph idx="8" type="body"/>
          </p:nvPr>
        </p:nvSpPr>
        <p:spPr>
          <a:xfrm>
            <a:off x="108394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محرك RAG</a:t>
            </a:r>
            <a:endParaRPr/>
          </a:p>
        </p:txBody>
      </p:sp>
      <p:sp>
        <p:nvSpPr>
          <p:cNvPr id="661" name="Google Shape;661;p18"/>
          <p:cNvSpPr txBox="1"/>
          <p:nvPr>
            <p:ph idx="9" type="body"/>
          </p:nvPr>
        </p:nvSpPr>
        <p:spPr>
          <a:xfrm>
            <a:off x="108394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أساسي</a:t>
            </a:r>
            <a:endParaRPr/>
          </a:p>
        </p:txBody>
      </p:sp>
      <p:sp>
        <p:nvSpPr>
          <p:cNvPr id="662" name="Google Shape;662;p18"/>
          <p:cNvSpPr txBox="1"/>
          <p:nvPr>
            <p:ph idx="13" type="body"/>
          </p:nvPr>
        </p:nvSpPr>
        <p:spPr>
          <a:xfrm>
            <a:off x="108394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Embeddings وقاعدة متجهات وبحث دلالي</a:t>
            </a:r>
            <a:endParaRPr/>
          </a:p>
        </p:txBody>
      </p:sp>
      <p:sp>
        <p:nvSpPr>
          <p:cNvPr id="663" name="Google Shape;663;p18"/>
          <p:cNvSpPr txBox="1"/>
          <p:nvPr>
            <p:ph idx="14" type="body"/>
          </p:nvPr>
        </p:nvSpPr>
        <p:spPr>
          <a:xfrm>
            <a:off x="76962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03</a:t>
            </a:r>
            <a:endParaRPr/>
          </a:p>
        </p:txBody>
      </p:sp>
      <p:sp>
        <p:nvSpPr>
          <p:cNvPr id="664" name="Google Shape;664;p18"/>
          <p:cNvSpPr txBox="1"/>
          <p:nvPr>
            <p:ph idx="15" type="body"/>
          </p:nvPr>
        </p:nvSpPr>
        <p:spPr>
          <a:xfrm>
            <a:off x="76962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الوكيل والواجهة</a:t>
            </a:r>
            <a:endParaRPr/>
          </a:p>
        </p:txBody>
      </p:sp>
      <p:sp>
        <p:nvSpPr>
          <p:cNvPr id="665" name="Google Shape;665;p18"/>
          <p:cNvSpPr txBox="1"/>
          <p:nvPr>
            <p:ph idx="16" type="body"/>
          </p:nvPr>
        </p:nvSpPr>
        <p:spPr>
          <a:xfrm>
            <a:off x="76962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أساسي</a:t>
            </a:r>
            <a:endParaRPr/>
          </a:p>
        </p:txBody>
      </p:sp>
      <p:sp>
        <p:nvSpPr>
          <p:cNvPr id="666" name="Google Shape;666;p18"/>
          <p:cNvSpPr txBox="1"/>
          <p:nvPr>
            <p:ph idx="17" type="body"/>
          </p:nvPr>
        </p:nvSpPr>
        <p:spPr>
          <a:xfrm>
            <a:off x="76962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وكيل استشاري وواجهة عربية</a:t>
            </a:r>
            <a:endParaRPr/>
          </a:p>
        </p:txBody>
      </p:sp>
      <p:sp>
        <p:nvSpPr>
          <p:cNvPr id="667" name="Google Shape;667;p18"/>
          <p:cNvSpPr txBox="1"/>
          <p:nvPr>
            <p:ph idx="18" type="body"/>
          </p:nvPr>
        </p:nvSpPr>
        <p:spPr>
          <a:xfrm>
            <a:off x="45529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04</a:t>
            </a:r>
            <a:endParaRPr/>
          </a:p>
        </p:txBody>
      </p:sp>
      <p:sp>
        <p:nvSpPr>
          <p:cNvPr id="668" name="Google Shape;668;p18"/>
          <p:cNvSpPr txBox="1"/>
          <p:nvPr>
            <p:ph idx="19" type="body"/>
          </p:nvPr>
        </p:nvSpPr>
        <p:spPr>
          <a:xfrm>
            <a:off x="45529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الميزات المتقدمة</a:t>
            </a:r>
            <a:endParaRPr/>
          </a:p>
        </p:txBody>
      </p:sp>
      <p:sp>
        <p:nvSpPr>
          <p:cNvPr id="669" name="Google Shape;669;p18"/>
          <p:cNvSpPr txBox="1"/>
          <p:nvPr>
            <p:ph idx="20" type="body"/>
          </p:nvPr>
        </p:nvSpPr>
        <p:spPr>
          <a:xfrm>
            <a:off x="45529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تطويري</a:t>
            </a:r>
            <a:endParaRPr/>
          </a:p>
        </p:txBody>
      </p:sp>
      <p:sp>
        <p:nvSpPr>
          <p:cNvPr id="670" name="Google Shape;670;p18"/>
          <p:cNvSpPr txBox="1"/>
          <p:nvPr>
            <p:ph idx="21" type="body"/>
          </p:nvPr>
        </p:nvSpPr>
        <p:spPr>
          <a:xfrm>
            <a:off x="45529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خريطة وخط زمني وصوت واختبارات</a:t>
            </a:r>
            <a:endParaRPr/>
          </a:p>
        </p:txBody>
      </p:sp>
      <p:sp>
        <p:nvSpPr>
          <p:cNvPr id="671" name="Google Shape;671;p18"/>
          <p:cNvSpPr txBox="1"/>
          <p:nvPr>
            <p:ph idx="22" type="body"/>
          </p:nvPr>
        </p:nvSpPr>
        <p:spPr>
          <a:xfrm>
            <a:off x="1409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05</a:t>
            </a:r>
            <a:endParaRPr/>
          </a:p>
        </p:txBody>
      </p:sp>
      <p:sp>
        <p:nvSpPr>
          <p:cNvPr id="672" name="Google Shape;672;p18"/>
          <p:cNvSpPr txBox="1"/>
          <p:nvPr>
            <p:ph idx="23" type="body"/>
          </p:nvPr>
        </p:nvSpPr>
        <p:spPr>
          <a:xfrm>
            <a:off x="1409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المراجعة والإطلاق</a:t>
            </a:r>
            <a:endParaRPr/>
          </a:p>
        </p:txBody>
      </p:sp>
      <p:sp>
        <p:nvSpPr>
          <p:cNvPr id="673" name="Google Shape;673;p18"/>
          <p:cNvSpPr txBox="1"/>
          <p:nvPr>
            <p:ph idx="24" type="body"/>
          </p:nvPr>
        </p:nvSpPr>
        <p:spPr>
          <a:xfrm>
            <a:off x="1409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ختامي</a:t>
            </a:r>
            <a:endParaRPr/>
          </a:p>
        </p:txBody>
      </p:sp>
      <p:sp>
        <p:nvSpPr>
          <p:cNvPr id="674" name="Google Shape;674;p18"/>
          <p:cNvSpPr txBox="1"/>
          <p:nvPr>
            <p:ph idx="25" type="body"/>
          </p:nvPr>
        </p:nvSpPr>
        <p:spPr>
          <a:xfrm>
            <a:off x="1409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مراجعة شرعية وتجربة مستخدمين</a:t>
            </a:r>
            <a:endParaRPr/>
          </a:p>
        </p:txBody>
      </p:sp>
      <p:cxnSp>
        <p:nvCxnSpPr>
          <p:cNvPr id="675" name="Google Shape;675;p18"/>
          <p:cNvCxnSpPr/>
          <p:nvPr/>
        </p:nvCxnSpPr>
        <p:spPr>
          <a:xfrm rot="10800000">
            <a:off x="139923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6" name="Google Shape;6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18"/>
          <p:cNvCxnSpPr/>
          <p:nvPr/>
        </p:nvCxnSpPr>
        <p:spPr>
          <a:xfrm rot="10800000">
            <a:off x="108300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18"/>
          <p:cNvCxnSpPr/>
          <p:nvPr/>
        </p:nvCxnSpPr>
        <p:spPr>
          <a:xfrm rot="10800000">
            <a:off x="76677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8"/>
          <p:cNvCxnSpPr/>
          <p:nvPr/>
        </p:nvCxnSpPr>
        <p:spPr>
          <a:xfrm rot="10800000">
            <a:off x="45054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8"/>
          <p:cNvCxnSpPr/>
          <p:nvPr/>
        </p:nvCxnSpPr>
        <p:spPr>
          <a:xfrm rot="10800000">
            <a:off x="13431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9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القدرة على التنفيذ</a:t>
            </a:r>
            <a:endParaRPr/>
          </a:p>
        </p:txBody>
      </p:sp>
      <p:sp>
        <p:nvSpPr>
          <p:cNvPr id="689" name="Google Shape;689;p19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فريق العمل</a:t>
            </a:r>
            <a:endParaRPr/>
          </a:p>
        </p:txBody>
      </p:sp>
      <p:sp>
        <p:nvSpPr>
          <p:cNvPr id="690" name="Google Shape;690;p19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فريق أُسوة: تقنية وتصميم ومحتوى شرعي</a:t>
            </a:r>
            <a:endParaRPr/>
          </a:p>
        </p:txBody>
      </p:sp>
      <p:sp>
        <p:nvSpPr>
          <p:cNvPr id="691" name="Google Shape;691;p1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‹#›</a:t>
            </a:fld>
            <a:endParaRPr/>
          </a:p>
        </p:txBody>
      </p:sp>
      <p:sp>
        <p:nvSpPr>
          <p:cNvPr id="693" name="Google Shape;693;p19"/>
          <p:cNvSpPr txBox="1"/>
          <p:nvPr>
            <p:ph idx="4" type="body"/>
          </p:nvPr>
        </p:nvSpPr>
        <p:spPr>
          <a:xfrm>
            <a:off x="13807440" y="4754880"/>
            <a:ext cx="310896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0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حنين القصير</a:t>
            </a:r>
            <a:endParaRPr/>
          </a:p>
        </p:txBody>
      </p:sp>
      <p:sp>
        <p:nvSpPr>
          <p:cNvPr id="694" name="Google Shape;694;p19"/>
          <p:cNvSpPr txBox="1"/>
          <p:nvPr>
            <p:ph idx="5" type="body"/>
          </p:nvPr>
        </p:nvSpPr>
        <p:spPr>
          <a:xfrm>
            <a:off x="13807440" y="566928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قيادة الفريق وتطوير وكيل الذكاء الاصطناعي</a:t>
            </a:r>
            <a:endParaRPr/>
          </a:p>
        </p:txBody>
      </p:sp>
      <p:sp>
        <p:nvSpPr>
          <p:cNvPr id="696" name="Google Shape;696;p19"/>
          <p:cNvSpPr txBox="1"/>
          <p:nvPr>
            <p:ph idx="7" type="body"/>
          </p:nvPr>
        </p:nvSpPr>
        <p:spPr>
          <a:xfrm>
            <a:off x="10698480" y="4754880"/>
            <a:ext cx="310896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0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نوف تركي التركي</a:t>
            </a:r>
            <a:endParaRPr/>
          </a:p>
        </p:txBody>
      </p:sp>
      <p:sp>
        <p:nvSpPr>
          <p:cNvPr id="697" name="Google Shape;697;p19"/>
          <p:cNvSpPr txBox="1"/>
          <p:nvPr>
            <p:ph idx="8" type="body"/>
          </p:nvPr>
        </p:nvSpPr>
        <p:spPr>
          <a:xfrm>
            <a:off x="10698480" y="566928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تصميم تجربة المستخدم</a:t>
            </a:r>
            <a:endParaRPr/>
          </a:p>
        </p:txBody>
      </p:sp>
      <p:sp>
        <p:nvSpPr>
          <p:cNvPr id="699" name="Google Shape;699;p19"/>
          <p:cNvSpPr txBox="1"/>
          <p:nvPr>
            <p:ph idx="13" type="body"/>
          </p:nvPr>
        </p:nvSpPr>
        <p:spPr>
          <a:xfrm>
            <a:off x="7589520" y="4754880"/>
            <a:ext cx="310896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0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غلا محمد الرشيدي</a:t>
            </a:r>
            <a:endParaRPr/>
          </a:p>
        </p:txBody>
      </p:sp>
      <p:sp>
        <p:nvSpPr>
          <p:cNvPr id="700" name="Google Shape;700;p19"/>
          <p:cNvSpPr txBox="1"/>
          <p:nvPr>
            <p:ph idx="14" type="body"/>
          </p:nvPr>
        </p:nvSpPr>
        <p:spPr>
          <a:xfrm>
            <a:off x="7589520" y="566928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تطوير الخلفية البرمجية</a:t>
            </a:r>
            <a:endParaRPr/>
          </a:p>
        </p:txBody>
      </p:sp>
      <p:sp>
        <p:nvSpPr>
          <p:cNvPr id="702" name="Google Shape;702;p19"/>
          <p:cNvSpPr txBox="1"/>
          <p:nvPr>
            <p:ph idx="16" type="body"/>
          </p:nvPr>
        </p:nvSpPr>
        <p:spPr>
          <a:xfrm>
            <a:off x="4480560" y="4754880"/>
            <a:ext cx="310896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0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الماس المشيقح</a:t>
            </a:r>
            <a:endParaRPr/>
          </a:p>
        </p:txBody>
      </p:sp>
      <p:sp>
        <p:nvSpPr>
          <p:cNvPr id="703" name="Google Shape;703;p19"/>
          <p:cNvSpPr txBox="1"/>
          <p:nvPr>
            <p:ph idx="17" type="body"/>
          </p:nvPr>
        </p:nvSpPr>
        <p:spPr>
          <a:xfrm>
            <a:off x="4480560" y="566928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المراجعة الشرعية وهيكلة البيانات</a:t>
            </a:r>
            <a:endParaRPr/>
          </a:p>
        </p:txBody>
      </p:sp>
      <p:sp>
        <p:nvSpPr>
          <p:cNvPr id="693" name="Google Shape;693;p19"/>
          <p:cNvSpPr txBox="1"/>
          <p:nvPr>
            <p:ph idx="4" type="body"/>
          </p:nvPr>
        </p:nvSpPr>
        <p:spPr>
          <a:xfrm>
            <a:off x="1371600" y="4754880"/>
            <a:ext cx="310896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0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أثير الحربي</a:t>
            </a:r>
            <a:endParaRPr/>
          </a:p>
        </p:txBody>
      </p:sp>
      <p:sp>
        <p:nvSpPr>
          <p:cNvPr id="694" name="Google Shape;694;p19"/>
          <p:cNvSpPr txBox="1"/>
          <p:nvPr>
            <p:ph idx="5" type="body"/>
          </p:nvPr>
        </p:nvSpPr>
        <p:spPr>
          <a:xfrm>
            <a:off x="1371600" y="566928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تطوير الواجهات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0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0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Cairo"/>
                <a:ea typeface="Cairo"/>
                <a:cs typeface="Cairo"/>
                <a:sym typeface="Cairo"/>
              </a:rPr>
              <a:t>الموثوقية والسلامة العلمية</a:t>
            </a:r>
            <a:endParaRPr/>
          </a:p>
        </p:txBody>
      </p:sp>
      <p:sp>
        <p:nvSpPr>
          <p:cNvPr id="711" name="Google Shape;711;p20"/>
          <p:cNvSpPr txBox="1"/>
          <p:nvPr>
            <p:ph type="title"/>
          </p:nvPr>
        </p:nvSpPr>
        <p:spPr>
          <a:xfrm>
            <a:off x="6637950" y="1809750"/>
            <a:ext cx="1020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Cairo"/>
                <a:ea typeface="Cairo"/>
                <a:cs typeface="Cairo"/>
                <a:sym typeface="Cairo"/>
              </a:rPr>
              <a:t>موثوقية المصدر والمحتوى</a:t>
            </a:r>
            <a:endParaRPr/>
          </a:p>
        </p:txBody>
      </p:sp>
      <p:sp>
        <p:nvSpPr>
          <p:cNvPr id="712" name="Google Shape;712;p20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مراجعة شرعية لمحتوى القاعدة قبل الإطلاق</a:t>
            </a:r>
            <a:endParaRPr/>
          </a:p>
        </p:txBody>
      </p:sp>
      <p:sp>
        <p:nvSpPr>
          <p:cNvPr id="713" name="Google Shape;713;p2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‹#›</a:t>
            </a:fld>
            <a:endParaRPr/>
          </a:p>
        </p:txBody>
      </p:sp>
      <p:sp>
        <p:nvSpPr>
          <p:cNvPr id="714" name="Google Shape;714;p20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Cairo"/>
                <a:ea typeface="Cairo"/>
                <a:cs typeface="Cairo"/>
                <a:sym typeface="Cairo"/>
              </a:rPr>
              <a:t>مصادر معتمدة</a:t>
            </a:r>
            <a:endParaRPr/>
          </a:p>
        </p:txBody>
      </p:sp>
      <p:sp>
        <p:nvSpPr>
          <p:cNvPr id="715" name="Google Shape;715;p20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القاعدة تُبنى من مصادر السيرة المعتمدة وتتوسع بإضافة مصادر موثقة.</a:t>
            </a:r>
            <a:endParaRPr/>
          </a:p>
        </p:txBody>
      </p:sp>
      <p:sp>
        <p:nvSpPr>
          <p:cNvPr id="716" name="Google Shape;716;p20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Cairo"/>
                <a:ea typeface="Cairo"/>
                <a:cs typeface="Cairo"/>
                <a:sym typeface="Cairo"/>
              </a:rPr>
              <a:t>استرجاع قبل التوليد</a:t>
            </a:r>
            <a:endParaRPr/>
          </a:p>
        </p:txBody>
      </p:sp>
      <p:sp>
        <p:nvSpPr>
          <p:cNvPr id="717" name="Google Shape;717;p20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يُبنى الرد على المقاطع المسترجعة لا على ذاكرة النموذج وحدها.</a:t>
            </a:r>
            <a:endParaRPr/>
          </a:p>
        </p:txBody>
      </p:sp>
      <p:sp>
        <p:nvSpPr>
          <p:cNvPr id="718" name="Google Shape;718;p20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Cairo"/>
                <a:ea typeface="Cairo"/>
                <a:cs typeface="Cairo"/>
                <a:sym typeface="Cairo"/>
              </a:rPr>
              <a:t>المصدر ظاهر</a:t>
            </a:r>
            <a:endParaRPr/>
          </a:p>
        </p:txBody>
      </p:sp>
      <p:sp>
        <p:nvSpPr>
          <p:cNvPr id="719" name="Google Shape;719;p20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يعرض كل رد الموقف والمصدر والمقطع ذا الصلة ليتحقق المستخدم.</a:t>
            </a:r>
            <a:endParaRPr/>
          </a:p>
        </p:txBody>
      </p:sp>
      <p:sp>
        <p:nvSpPr>
          <p:cNvPr id="720" name="Google Shape;720;p20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Cairo"/>
                <a:ea typeface="Cairo"/>
                <a:cs typeface="Cairo"/>
                <a:sym typeface="Cairo"/>
              </a:rPr>
              <a:t>لا اختلاق</a:t>
            </a:r>
            <a:endParaRPr/>
          </a:p>
        </p:txBody>
      </p:sp>
      <p:sp>
        <p:nvSpPr>
          <p:cNvPr id="721" name="Google Shape;721;p20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عند غياب الدليل يعتذر النظام، ولا يُجسَّد النبي ﷺ في المحتوى.</a:t>
            </a:r>
            <a:endParaRPr/>
          </a:p>
        </p:txBody>
      </p:sp>
      <p:pic>
        <p:nvPicPr>
          <p:cNvPr id="722" name="Google Shape;722;p20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21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21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‹#›</a:t>
            </a:fld>
            <a:endParaRPr/>
          </a:p>
        </p:txBody>
      </p:sp>
      <p:graphicFrame>
        <p:nvGraphicFramePr>
          <p:cNvPr id="731" name="Google Shape;731;p21"/>
          <p:cNvGraphicFramePr/>
          <p:nvPr/>
        </p:nvGraphicFramePr>
        <p:xfrm>
          <a:off x="1714500" y="39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/>
                <a:gridCol w="3238500"/>
                <a:gridCol w="6191250"/>
                <a:gridCol w="3714750"/>
              </a:tblGrid>
              <a:tr h="7810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ملاحظة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الدور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التقنية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المكوّن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Leaflet أو Mapbox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الواجهة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React / Next.js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واجهة المستخدم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PostgreSQL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الخلفية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Python + FastAPI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الخدمات والبيانات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ChromaDB أو FAISS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الذكاء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LLM + Embeddings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الفهم والاسترجاع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اختياري في المرحلة اللاحقة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المعرفة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Neo4j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شبكة العلاقات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</a:tbl>
          </a:graphicData>
        </a:graphic>
      </p:graphicFrame>
      <p:sp>
        <p:nvSpPr>
          <p:cNvPr id="732" name="Google Shape;732;p2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Cairo"/>
                <a:ea typeface="Cairo"/>
                <a:cs typeface="Cairo"/>
                <a:sym typeface="Cairo"/>
              </a:rPr>
              <a:t>قابلية التنفيذ</a:t>
            </a:r>
            <a:endParaRPr/>
          </a:p>
        </p:txBody>
      </p:sp>
      <p:sp>
        <p:nvSpPr>
          <p:cNvPr id="733" name="Google Shape;733;p2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Cairo"/>
                <a:ea typeface="Cairo"/>
                <a:cs typeface="Cairo"/>
                <a:sym typeface="Cairo"/>
              </a:rPr>
              <a:t>التقنيات المقترحة</a:t>
            </a:r>
            <a:endParaRPr/>
          </a:p>
        </p:txBody>
      </p:sp>
      <p:sp>
        <p:nvSpPr>
          <p:cNvPr id="734" name="Google Shape;734;p2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حزمة مفتوحة المصدر وجاهزة للاستخدام</a:t>
            </a:r>
            <a:endParaRPr/>
          </a:p>
        </p:txBody>
      </p:sp>
      <p:sp>
        <p:nvSpPr>
          <p:cNvPr id="735" name="Google Shape;735;p21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4A5590"/>
                </a:solidFill>
                <a:latin typeface="Cairo"/>
                <a:ea typeface="Cairo"/>
                <a:cs typeface="Cairo"/>
                <a:sym typeface="Cairo"/>
              </a:rPr>
              <a:t>الخيارات قابلة للتبديل حسب الموارد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توظيف الذكاء الاصطناعي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مسار عمل الوكيل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من موقف المستخدم إلى إجابة موثّقة بالمصدر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‹#›</a:t>
            </a:fld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13716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67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01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الفهم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تحليل دلالي لسياق المشكلة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استخراج المفاهيم الأساسية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9715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02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الاسترجاع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تحويل النص إلى Embeddings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بحث في قاعدة المتجهات</a:t>
            </a:r>
            <a:endParaRPr b="1" sz="3600">
              <a:solidFill>
                <a:srgbClr val="2EF2C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715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125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03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التوليد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نموذج لغوي يصوغ الرد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مقيّد بالمقاطع المسترجعة</a:t>
            </a:r>
            <a:endParaRPr b="1" sz="3600">
              <a:solidFill>
                <a:srgbClr val="2EF2C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714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04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الأثر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درس وخطوات وأسئلة عملية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مع عرض المصدر دائماً</a:t>
            </a:r>
            <a:endParaRPr b="1" sz="3600">
              <a:solidFill>
                <a:srgbClr val="2EF2C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27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الحل المقترح</a:t>
            </a:r>
            <a:endParaRPr/>
          </a:p>
        </p:txBody>
      </p:sp>
      <p:sp>
        <p:nvSpPr>
          <p:cNvPr id="861" name="Google Shape;861;p2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أُسوة: وكيل السيرة الاستشاري</a:t>
            </a:r>
            <a:endParaRPr/>
          </a:p>
        </p:txBody>
      </p:sp>
      <p:sp>
        <p:nvSpPr>
          <p:cNvPr id="862" name="Google Shape;862;p2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أربع ركائز تحوّل الموقف المعاصر إلى درس موثّق</a:t>
            </a:r>
            <a:endParaRPr/>
          </a:p>
        </p:txBody>
      </p:sp>
      <p:sp>
        <p:nvSpPr>
          <p:cNvPr id="863" name="Google Shape;863;p2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‹#›</a:t>
            </a:fld>
            <a:endParaRPr/>
          </a:p>
        </p:txBody>
      </p:sp>
      <p:pic>
        <p:nvPicPr>
          <p:cNvPr id="864" name="Google Shape;86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58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7"/>
          <p:cNvSpPr txBox="1"/>
          <p:nvPr>
            <p:ph idx="3" type="body"/>
          </p:nvPr>
        </p:nvSpPr>
        <p:spPr>
          <a:xfrm>
            <a:off x="13411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وكيل استشاري</a:t>
            </a:r>
            <a:endParaRPr/>
          </a:p>
        </p:txBody>
      </p:sp>
      <p:sp>
        <p:nvSpPr>
          <p:cNvPr id="866" name="Google Shape;866;p27"/>
          <p:cNvSpPr txBox="1"/>
          <p:nvPr>
            <p:ph idx="4" type="body"/>
          </p:nvPr>
        </p:nvSpPr>
        <p:spPr>
          <a:xfrm>
            <a:off x="13411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يفهم موقفك ويقدم درساً وخطوات عملية</a:t>
            </a:r>
            <a:endParaRPr/>
          </a:p>
        </p:txBody>
      </p:sp>
      <p:pic>
        <p:nvPicPr>
          <p:cNvPr id="867" name="Google Shape;8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8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7"/>
          <p:cNvSpPr txBox="1"/>
          <p:nvPr>
            <p:ph idx="5" type="body"/>
          </p:nvPr>
        </p:nvSpPr>
        <p:spPr>
          <a:xfrm>
            <a:off x="9410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بحث دلالي</a:t>
            </a:r>
            <a:endParaRPr/>
          </a:p>
        </p:txBody>
      </p:sp>
      <p:sp>
        <p:nvSpPr>
          <p:cNvPr id="869" name="Google Shape;869;p27"/>
          <p:cNvSpPr txBox="1"/>
          <p:nvPr>
            <p:ph idx="6" type="body"/>
          </p:nvPr>
        </p:nvSpPr>
        <p:spPr>
          <a:xfrm>
            <a:off x="9410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يجد المواقف ذات الصلة دون معرفة اسم الحدث</a:t>
            </a:r>
            <a:endParaRPr/>
          </a:p>
        </p:txBody>
      </p:sp>
      <p:pic>
        <p:nvPicPr>
          <p:cNvPr id="870" name="Google Shape;87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7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7"/>
          <p:cNvSpPr txBox="1"/>
          <p:nvPr>
            <p:ph idx="7" type="body"/>
          </p:nvPr>
        </p:nvSpPr>
        <p:spPr>
          <a:xfrm>
            <a:off x="5410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RAG موثّق</a:t>
            </a:r>
            <a:endParaRPr/>
          </a:p>
        </p:txBody>
      </p:sp>
      <p:sp>
        <p:nvSpPr>
          <p:cNvPr id="872" name="Google Shape;872;p27"/>
          <p:cNvSpPr txBox="1"/>
          <p:nvPr>
            <p:ph idx="8" type="body"/>
          </p:nvPr>
        </p:nvSpPr>
        <p:spPr>
          <a:xfrm>
            <a:off x="5410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ردود مبنية على مقاطع مسترجعة مع المصدر</a:t>
            </a:r>
            <a:endParaRPr/>
          </a:p>
        </p:txBody>
      </p:sp>
      <p:pic>
        <p:nvPicPr>
          <p:cNvPr id="873" name="Google Shape;87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7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7"/>
          <p:cNvSpPr txBox="1"/>
          <p:nvPr>
            <p:ph idx="9" type="body"/>
          </p:nvPr>
        </p:nvSpPr>
        <p:spPr>
          <a:xfrm>
            <a:off x="1409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محقق المعلومات</a:t>
            </a:r>
            <a:endParaRPr/>
          </a:p>
        </p:txBody>
      </p:sp>
      <p:sp>
        <p:nvSpPr>
          <p:cNvPr id="875" name="Google Shape;875;p27"/>
          <p:cNvSpPr txBox="1"/>
          <p:nvPr>
            <p:ph idx="13" type="body"/>
          </p:nvPr>
        </p:nvSpPr>
        <p:spPr>
          <a:xfrm>
            <a:off x="1409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يتحقق من المعلومة المنتشرة داخل المصادر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الأصالة والقيمة المضافة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ما الذي يميّز أُسوة؟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مقارنة مع روبوتات المحادثة العامة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Cairo"/>
                <a:ea typeface="Cairo"/>
                <a:cs typeface="Cairo"/>
                <a:sym typeface="Cairo"/>
              </a:rPr>
              <a:t>‹#›</a:t>
            </a:fld>
            <a:endParaRPr/>
          </a:p>
        </p:txBody>
      </p:sp>
      <p:sp>
        <p:nvSpPr>
          <p:cNvPr id="887" name="Google Shape;887;p28"/>
          <p:cNvSpPr txBox="1"/>
          <p:nvPr>
            <p:ph idx="3" type="body"/>
          </p:nvPr>
        </p:nvSpPr>
        <p:spPr>
          <a:xfrm>
            <a:off x="969645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أُسوة</a:t>
            </a:r>
            <a:endParaRPr/>
          </a:p>
        </p:txBody>
      </p:sp>
      <p:sp>
        <p:nvSpPr>
          <p:cNvPr id="888" name="Google Shape;888;p28"/>
          <p:cNvSpPr txBox="1"/>
          <p:nvPr>
            <p:ph idx="4" type="body"/>
          </p:nvPr>
        </p:nvSpPr>
        <p:spPr>
          <a:xfrm>
            <a:off x="969645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وكيل موثّق مع خريطة وخط زمني ومعلّم واختبارات</a:t>
            </a:r>
            <a:endParaRPr/>
          </a:p>
        </p:txBody>
      </p:sp>
      <p:sp>
        <p:nvSpPr>
          <p:cNvPr id="889" name="Google Shape;889;p28"/>
          <p:cNvSpPr txBox="1"/>
          <p:nvPr>
            <p:ph idx="5" type="body"/>
          </p:nvPr>
        </p:nvSpPr>
        <p:spPr>
          <a:xfrm>
            <a:off x="140970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روبوت محادثة عام</a:t>
            </a:r>
            <a:endParaRPr/>
          </a:p>
        </p:txBody>
      </p:sp>
      <p:sp>
        <p:nvSpPr>
          <p:cNvPr id="890" name="Google Shape;890;p28"/>
          <p:cNvSpPr txBox="1"/>
          <p:nvPr>
            <p:ph idx="6" type="body"/>
          </p:nvPr>
        </p:nvSpPr>
        <p:spPr>
          <a:xfrm>
            <a:off x="140970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Cairo"/>
                <a:ea typeface="Cairo"/>
                <a:cs typeface="Cairo"/>
                <a:sym typeface="Cairo"/>
              </a:rPr>
              <a:t>إجابات واسعة من مصادر غير محددة</a:t>
            </a:r>
            <a:endParaRPr/>
          </a:p>
        </p:txBody>
      </p:sp>
      <p:sp>
        <p:nvSpPr>
          <p:cNvPr id="891" name="Google Shape;891;p28"/>
          <p:cNvSpPr txBox="1"/>
          <p:nvPr>
            <p:ph idx="7" type="body"/>
          </p:nvPr>
        </p:nvSpPr>
        <p:spPr>
          <a:xfrm>
            <a:off x="969645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الميزة: يحلل موقفك ويعرض المصدر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القيد: يعتمد على جودة قاعدة المعرفة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يناسب: من يطلب توجيهاً عملياً موثوقاً</a:t>
            </a:r>
            <a:endParaRPr/>
          </a:p>
        </p:txBody>
      </p:sp>
      <p:sp>
        <p:nvSpPr>
          <p:cNvPr id="892" name="Google Shape;892;p28"/>
          <p:cNvSpPr txBox="1"/>
          <p:nvPr>
            <p:ph idx="8" type="body"/>
          </p:nvPr>
        </p:nvSpPr>
        <p:spPr>
          <a:xfrm>
            <a:off x="140970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الميزة: تغطية واسعة لأي موضوع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القيد: خطر نسبة معلومات غير موثقة للسيرة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يناسب: أسئلة عامة دون حاجة للتوثيق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31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1"/>
          <p:cNvSpPr txBox="1"/>
          <p:nvPr>
            <p:ph idx="1" type="body"/>
          </p:nvPr>
        </p:nvSpPr>
        <p:spPr>
          <a:xfrm>
            <a:off x="3810000" y="6172200"/>
            <a:ext cx="1066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F2F4FF"/>
                </a:solidFill>
                <a:latin typeface="Cairo"/>
                <a:ea typeface="Cairo"/>
                <a:cs typeface="Cairo"/>
                <a:sym typeface="Cairo"/>
              </a:rPr>
              <a:t>أُسوة: مِشكاةُ النبوة برؤيةٍ تقنية</a:t>
            </a:r>
            <a:endParaRPr/>
          </a:p>
        </p:txBody>
      </p:sp>
      <p:sp>
        <p:nvSpPr>
          <p:cNvPr id="916" name="Google Shape;916;p31"/>
          <p:cNvSpPr txBox="1"/>
          <p:nvPr>
            <p:ph idx="2" type="body"/>
          </p:nvPr>
        </p:nvSpPr>
        <p:spPr>
          <a:xfrm>
            <a:off x="3810000" y="489204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3400">
                <a:solidFill>
                  <a:srgbClr val="CBCFE6"/>
                </a:solidFill>
                <a:latin typeface="Amiri"/>
                <a:ea typeface="Amiri"/>
                <a:cs typeface="Amiri"/>
                <a:sym typeface="Amiri"/>
              </a:rPr>
              <a:t>لَّقَدْ كَانَ لَكُمْ فِي رَسُولِ اللَّهِ أُسْوَةٌ حَسَنَةٌ</a:t>
            </a:r>
            <a:endParaRPr/>
          </a:p>
        </p:txBody>
      </p:sp>
      <p:sp>
        <p:nvSpPr>
          <p:cNvPr id="917" name="Google Shape;917;p31"/>
          <p:cNvSpPr txBox="1"/>
          <p:nvPr>
            <p:ph type="title"/>
          </p:nvPr>
        </p:nvSpPr>
        <p:spPr>
          <a:xfrm>
            <a:off x="3810000" y="3383280"/>
            <a:ext cx="10668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ar-SA" sz="72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شكراً لكم</a:t>
            </a:r>
            <a:endParaRPr/>
          </a:p>
        </p:txBody>
      </p:sp>
      <p:pic>
        <p:nvPicPr>
          <p:cNvPr id="918" name="Google Shape;918;p31" title="شعار الهاكثون لايت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450" y="1277075"/>
            <a:ext cx="6546002" cy="16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7879" y="1460433"/>
            <a:ext cx="1891696" cy="119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1" title="شعار عام الذكاء الاصطناع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6994" y="1261812"/>
            <a:ext cx="2908672" cy="170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1" title="شعار سدايا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0489" y="7716733"/>
            <a:ext cx="2292680" cy="13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1" title="شعار فيوتشر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9331" y="7929122"/>
            <a:ext cx="1570852" cy="9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31" title="شعار التحول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73933" y="7875719"/>
            <a:ext cx="1752806" cy="1028753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1"/>
          <p:cNvSpPr txBox="1"/>
          <p:nvPr/>
        </p:nvSpPr>
        <p:spPr>
          <a:xfrm>
            <a:off x="14046675" y="8254733"/>
            <a:ext cx="10620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شركاؤنا</a:t>
            </a:r>
            <a:r>
              <a:rPr lang="ar-SA">
                <a:solidFill>
                  <a:srgbClr val="2EF2C2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sz="1800">
              <a:solidFill>
                <a:srgbClr val="2EF2C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925" name="Google Shape;925;p31"/>
          <p:cNvCxnSpPr/>
          <p:nvPr/>
        </p:nvCxnSpPr>
        <p:spPr>
          <a:xfrm>
            <a:off x="7456246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31"/>
          <p:cNvCxnSpPr/>
          <p:nvPr/>
        </p:nvCxnSpPr>
        <p:spPr>
          <a:xfrm>
            <a:off x="5075007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7" name="Google Shape;927;p31" title="شعار وزارة الاتصالات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02750" y="7979050"/>
            <a:ext cx="3035650" cy="84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8" name="Google Shape;928;p31"/>
          <p:cNvCxnSpPr/>
          <p:nvPr/>
        </p:nvCxnSpPr>
        <p:spPr>
          <a:xfrm>
            <a:off x="10366904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